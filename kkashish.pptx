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0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249C-FBF0-C430-0308-2C11D69D2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A35D7-A56E-B2B8-8247-B0C20012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24E7-D5C5-FB2A-5387-9A228D7D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D1196-86C6-5B4E-A128-25B4D057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45BC4-56E9-AA01-A614-24BC959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87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DE8B-293F-93EE-62AE-0077AC44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5C0B5-51B6-EA73-A034-FAE8AEDA1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B2F42-BC5A-3F70-8342-D9D274C6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1B74-2120-9AFE-A42E-FBB00A3C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738D1-05B9-D27D-2936-DC7C499E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60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18D4-CD9D-DE9D-405A-7F67E384B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D0B8E-0602-FB46-C46B-56820F364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1774B-E76B-4E91-A3EC-C2DD4A40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11ECC-C082-9A57-14DF-D1E24297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E727-B98C-429D-137E-BC93311D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0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6466-7579-4762-7683-7F7637EE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13F3-8FC1-50FE-302F-7B4570290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0F38-CDD8-6F83-8B12-16F0D8233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5E543-CF6B-F485-3868-C2C62DAE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B473-2AAE-CE07-5553-15FABC82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8FC6F-334F-F5CF-84C6-F8BED210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71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C587-25D5-2D46-2439-1673F24E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5AE32-AF41-8F31-95FE-C45FDFE0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4BE2F-604B-B6F4-8088-ACE415348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9DCEE-DA2B-8B9F-6F0F-72273A251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35EC7-ACEA-E526-2E1A-75656572B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11DD9-724D-50EF-E589-A9E5A5B7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48A43-ED10-9391-2B5C-176C7D8F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891CE-B870-AC13-8799-F5A223B2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5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8E6E-EF53-EEC7-5644-6AF8F6BF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0B1F7-F193-2A4E-785F-7975DDBD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A5C79-5668-85AA-C83C-327E5FD3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F30E-5E71-C886-31A9-A9198A0D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51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F44E7-00CF-1762-10C5-7CED7D6E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C45B2-AE47-241F-24F0-A2C86A80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1B0F1-4428-A2B2-E837-86747BA2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9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2F04-B7A4-279B-3A3E-CFABA93A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E364-932C-58B9-C2B2-4F81F743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CA849-15BE-5064-48B3-B8CE4F2D9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0B93D-3026-E357-961C-3E0609DD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96BEE-A19E-2119-42FA-BF20AB4F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5BD1-5565-14DA-E2F4-0EFECDB7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301B-9582-F27B-AF11-4C6FE9F0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5C723E-7426-285D-3B57-7C0CAF395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AE912-7531-298F-3172-A25FD0EED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816FA-5807-3493-F9CF-19FD5D6A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0C26-1CB2-0A5F-9DBF-C6B01BBBF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B4FAD-62BC-5BAD-8127-D057B067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23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542C-81F6-EC48-5726-5B8F323E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944C9-91F5-B0DA-4467-789DCC2D4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4B165-95DF-4D44-E27B-618AA7B4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D5358-2920-EE66-D4EA-2E84A097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69408-7E10-5732-F271-E83DC3DE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6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B1F1B-1081-B997-0F96-A3EF95080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3738A-FA10-B698-D611-0991414D1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30DED-32C5-501B-1762-29D693FE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04D9D-8B63-2203-CEFE-CD5B5BBA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B5426-F723-0C99-79ED-3E52CE62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AD88C-73B9-CC04-55EC-FDDB0882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0EA8-E564-0F85-EDFF-915B15C32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84E45-1BAF-FEFE-1AC9-B61126086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5B25-6959-4917-FC45-73971B479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10396-EE12-2FC6-AA55-965AE18B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4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6EA5F7-F96F-18F3-47A1-ED02669D37E9}"/>
              </a:ext>
            </a:extLst>
          </p:cNvPr>
          <p:cNvSpPr txBox="1"/>
          <p:nvPr/>
        </p:nvSpPr>
        <p:spPr>
          <a:xfrm>
            <a:off x="1970314" y="612283"/>
            <a:ext cx="8251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/>
              <a:t>Data Mining Project – Telecommunications</a:t>
            </a:r>
            <a:endParaRPr lang="en-IN" sz="32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96894-3AAA-67FA-C5B5-B7FB0553E9B6}"/>
              </a:ext>
            </a:extLst>
          </p:cNvPr>
          <p:cNvSpPr txBox="1"/>
          <p:nvPr/>
        </p:nvSpPr>
        <p:spPr>
          <a:xfrm>
            <a:off x="1970314" y="2025733"/>
            <a:ext cx="4887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Presented by:  Kashish Gupta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A545B-50ED-6BFE-04E1-D37AC84B5501}"/>
              </a:ext>
            </a:extLst>
          </p:cNvPr>
          <p:cNvSpPr txBox="1"/>
          <p:nvPr/>
        </p:nvSpPr>
        <p:spPr>
          <a:xfrm>
            <a:off x="1970314" y="3508606"/>
            <a:ext cx="7641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Course: </a:t>
            </a:r>
            <a:r>
              <a:rPr lang="en-IN" sz="2800" dirty="0"/>
              <a:t>BCA – Data Science &amp; Artificial Intelligence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DE41F-B1ED-B449-DFFE-2E531BAE1FF7}"/>
              </a:ext>
            </a:extLst>
          </p:cNvPr>
          <p:cNvSpPr txBox="1"/>
          <p:nvPr/>
        </p:nvSpPr>
        <p:spPr>
          <a:xfrm>
            <a:off x="1970314" y="2743201"/>
            <a:ext cx="4155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Roll Number </a:t>
            </a:r>
            <a:r>
              <a:rPr lang="en-IN" sz="2800" dirty="0"/>
              <a:t>- 1240258223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05CE8-E384-C969-90F5-DBA5AA67435A}"/>
              </a:ext>
            </a:extLst>
          </p:cNvPr>
          <p:cNvSpPr txBox="1"/>
          <p:nvPr/>
        </p:nvSpPr>
        <p:spPr>
          <a:xfrm>
            <a:off x="1970314" y="4274011"/>
            <a:ext cx="514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Software Used: IBM SPSS Modeler</a:t>
            </a:r>
          </a:p>
        </p:txBody>
      </p:sp>
    </p:spTree>
    <p:extLst>
      <p:ext uri="{BB962C8B-B14F-4D97-AF65-F5344CB8AC3E}">
        <p14:creationId xmlns:p14="http://schemas.microsoft.com/office/powerpoint/2010/main" val="140011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33469-706D-ED1B-ECF6-7FCF7362906B}"/>
              </a:ext>
            </a:extLst>
          </p:cNvPr>
          <p:cNvSpPr txBox="1"/>
          <p:nvPr/>
        </p:nvSpPr>
        <p:spPr>
          <a:xfrm>
            <a:off x="4169228" y="424934"/>
            <a:ext cx="385354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800" b="1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5D9E4-EE13-C3B9-D626-946E9A48E102}"/>
              </a:ext>
            </a:extLst>
          </p:cNvPr>
          <p:cNvSpPr txBox="1"/>
          <p:nvPr/>
        </p:nvSpPr>
        <p:spPr>
          <a:xfrm>
            <a:off x="957943" y="1589314"/>
            <a:ext cx="98080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Customer churn is an important business problem in the telecommunications industry.</a:t>
            </a:r>
          </a:p>
          <a:p>
            <a:r>
              <a:rPr lang="en-IN" sz="2000" b="1" dirty="0"/>
              <a:t>The aim of this project is to identify customers who are likely to leave the company by using historical customer data and a CHAID decision-tree model.</a:t>
            </a:r>
          </a:p>
          <a:p>
            <a:r>
              <a:rPr lang="en-IN" sz="2000" b="1" dirty="0"/>
              <a:t>The trained model is then applied to current customers to identify those who are at high risk of churn.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62E2E-6B90-9836-FB8B-DF740BFAD9A1}"/>
              </a:ext>
            </a:extLst>
          </p:cNvPr>
          <p:cNvSpPr txBox="1"/>
          <p:nvPr/>
        </p:nvSpPr>
        <p:spPr>
          <a:xfrm>
            <a:off x="957943" y="3418114"/>
            <a:ext cx="9684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Goal:   Predict churn → Identify high-risk customers → Help the company take retention action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AAF27-1BFD-9E37-D8BF-1442687F1BCA}"/>
              </a:ext>
            </a:extLst>
          </p:cNvPr>
          <p:cNvSpPr txBox="1"/>
          <p:nvPr/>
        </p:nvSpPr>
        <p:spPr>
          <a:xfrm>
            <a:off x="2752412" y="3991767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1" dirty="0"/>
              <a:t>Customer Data</a:t>
            </a:r>
          </a:p>
          <a:p>
            <a:pPr algn="ctr"/>
            <a:r>
              <a:rPr lang="en-IN" sz="2400" b="1" i="1" dirty="0"/>
              <a:t>      ↓</a:t>
            </a:r>
          </a:p>
          <a:p>
            <a:pPr algn="ctr"/>
            <a:r>
              <a:rPr lang="en-IN" sz="2400" b="1" i="1" dirty="0"/>
              <a:t>Churn Prediction</a:t>
            </a:r>
          </a:p>
          <a:p>
            <a:pPr algn="ctr"/>
            <a:r>
              <a:rPr lang="en-IN" sz="2400" b="1" i="1" dirty="0"/>
              <a:t>      ↓</a:t>
            </a:r>
          </a:p>
          <a:p>
            <a:pPr algn="ctr"/>
            <a:r>
              <a:rPr lang="en-IN" sz="2400" b="1" i="1" dirty="0"/>
              <a:t>High-Risk Customers</a:t>
            </a:r>
          </a:p>
          <a:p>
            <a:pPr algn="ctr"/>
            <a:r>
              <a:rPr lang="en-IN" sz="2400" b="1" i="1" dirty="0"/>
              <a:t>      ↓</a:t>
            </a:r>
          </a:p>
          <a:p>
            <a:pPr algn="ctr"/>
            <a:r>
              <a:rPr lang="en-IN" sz="2400" b="1" i="1" dirty="0"/>
              <a:t>Retention Action</a:t>
            </a:r>
          </a:p>
        </p:txBody>
      </p:sp>
    </p:spTree>
    <p:extLst>
      <p:ext uri="{BB962C8B-B14F-4D97-AF65-F5344CB8AC3E}">
        <p14:creationId xmlns:p14="http://schemas.microsoft.com/office/powerpoint/2010/main" val="56443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215552-4514-F329-378D-3093E24E8C7F}"/>
              </a:ext>
            </a:extLst>
          </p:cNvPr>
          <p:cNvSpPr txBox="1"/>
          <p:nvPr/>
        </p:nvSpPr>
        <p:spPr>
          <a:xfrm>
            <a:off x="578360" y="167959"/>
            <a:ext cx="2163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Dataset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B39AF-0664-A270-1881-448E5D0088DB}"/>
              </a:ext>
            </a:extLst>
          </p:cNvPr>
          <p:cNvSpPr txBox="1"/>
          <p:nvPr/>
        </p:nvSpPr>
        <p:spPr>
          <a:xfrm>
            <a:off x="451430" y="1208314"/>
            <a:ext cx="731008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1. Historical / </a:t>
            </a:r>
            <a:r>
              <a:rPr lang="en-IN" sz="2200" b="1" dirty="0" err="1"/>
              <a:t>Modeling</a:t>
            </a:r>
            <a:r>
              <a:rPr lang="en-IN" sz="2200" b="1" dirty="0"/>
              <a:t> Dataset</a:t>
            </a:r>
          </a:p>
          <a:p>
            <a:pPr>
              <a:buNone/>
            </a:pPr>
            <a:r>
              <a:rPr lang="en-IN" sz="2200" b="1" dirty="0"/>
              <a:t>    File: </a:t>
            </a:r>
            <a:r>
              <a:rPr lang="en-IN" sz="2200" dirty="0">
                <a:latin typeface="+mn-lt"/>
              </a:rPr>
              <a:t>telco x </a:t>
            </a:r>
            <a:r>
              <a:rPr lang="en-IN" sz="2200" dirty="0" err="1">
                <a:latin typeface="+mn-lt"/>
              </a:rPr>
              <a:t>modeling</a:t>
            </a:r>
            <a:r>
              <a:rPr lang="en-IN" sz="2200" dirty="0">
                <a:latin typeface="+mn-lt"/>
              </a:rPr>
              <a:t> data.xlsx</a:t>
            </a:r>
            <a:endParaRPr lang="en-IN" sz="2200" dirty="0"/>
          </a:p>
          <a:p>
            <a:pPr>
              <a:buNone/>
            </a:pPr>
            <a:r>
              <a:rPr lang="en-IN" sz="2200" b="1" dirty="0"/>
              <a:t>    Purpose:</a:t>
            </a:r>
            <a:endParaRPr lang="en-IN" sz="2200" dirty="0"/>
          </a:p>
          <a:p>
            <a:pPr>
              <a:buNone/>
            </a:pPr>
            <a:r>
              <a:rPr lang="en-IN" sz="2200" dirty="0"/>
              <a:t>    Used to build and train the </a:t>
            </a:r>
            <a:br>
              <a:rPr lang="en-IN" sz="2200" dirty="0"/>
            </a:br>
            <a:r>
              <a:rPr lang="en-IN" sz="2200" dirty="0"/>
              <a:t>    prediction model.</a:t>
            </a:r>
          </a:p>
          <a:p>
            <a:pPr>
              <a:buNone/>
            </a:pPr>
            <a:r>
              <a:rPr lang="en-IN" sz="2200" b="1" dirty="0"/>
              <a:t>2. Deployment Dataset</a:t>
            </a:r>
          </a:p>
          <a:p>
            <a:pPr>
              <a:buNone/>
            </a:pPr>
            <a:r>
              <a:rPr lang="en-IN" sz="2200" b="1" dirty="0"/>
              <a:t>     File:</a:t>
            </a:r>
            <a:endParaRPr lang="en-IN" sz="2200" dirty="0"/>
          </a:p>
          <a:p>
            <a:pPr>
              <a:buNone/>
            </a:pPr>
            <a:r>
              <a:rPr lang="en-IN" sz="2200" dirty="0">
                <a:latin typeface="+mn-lt"/>
              </a:rPr>
              <a:t>     telco x deployment data.xlsx</a:t>
            </a:r>
            <a:endParaRPr lang="en-IN" sz="2200" dirty="0"/>
          </a:p>
          <a:p>
            <a:pPr>
              <a:buNone/>
            </a:pPr>
            <a:r>
              <a:rPr lang="en-IN" sz="2200" b="1" dirty="0"/>
              <a:t>     Purpose:</a:t>
            </a:r>
            <a:endParaRPr lang="en-IN" sz="2200" dirty="0"/>
          </a:p>
          <a:p>
            <a:pPr>
              <a:buNone/>
            </a:pPr>
            <a:r>
              <a:rPr lang="en-IN" sz="2200" dirty="0"/>
              <a:t>     Used to apply the trained model</a:t>
            </a:r>
            <a:br>
              <a:rPr lang="en-IN" sz="2200" dirty="0"/>
            </a:br>
            <a:r>
              <a:rPr lang="en-IN" sz="2200" dirty="0"/>
              <a:t>     to current customers.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E77660-8A2F-9328-D1FE-6641627B1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" t="3796" r="2877" b="2023"/>
          <a:stretch>
            <a:fillRect/>
          </a:stretch>
        </p:blipFill>
        <p:spPr>
          <a:xfrm>
            <a:off x="5105400" y="1012371"/>
            <a:ext cx="6635170" cy="456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8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FCFC4-8F04-CBFF-E397-D103B3EB58C9}"/>
              </a:ext>
            </a:extLst>
          </p:cNvPr>
          <p:cNvSpPr txBox="1"/>
          <p:nvPr/>
        </p:nvSpPr>
        <p:spPr>
          <a:xfrm>
            <a:off x="609600" y="370505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Data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BC360-C5D6-BF69-0CD4-6EE093A5D1F9}"/>
              </a:ext>
            </a:extLst>
          </p:cNvPr>
          <p:cNvSpPr txBox="1"/>
          <p:nvPr/>
        </p:nvSpPr>
        <p:spPr>
          <a:xfrm>
            <a:off x="190196" y="144779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Before building the model, the dataset was checked and records with unknown data were removed.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2BB54-6F6D-C8D3-8585-B9E32B1CA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905804" cy="4997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F01BD6-EF81-D533-B98B-37BFA251A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19" b="14591"/>
          <a:stretch>
            <a:fillRect/>
          </a:stretch>
        </p:blipFill>
        <p:spPr>
          <a:xfrm>
            <a:off x="471650" y="2406838"/>
            <a:ext cx="5533092" cy="44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7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8148C-A534-5CC7-6C1A-CAE8294CAA8B}"/>
              </a:ext>
            </a:extLst>
          </p:cNvPr>
          <p:cNvSpPr txBox="1"/>
          <p:nvPr/>
        </p:nvSpPr>
        <p:spPr>
          <a:xfrm>
            <a:off x="664028" y="348734"/>
            <a:ext cx="1872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/>
              <a:t>Field Roles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9F192-C3B1-73C4-EE85-E236164169E9}"/>
              </a:ext>
            </a:extLst>
          </p:cNvPr>
          <p:cNvSpPr txBox="1"/>
          <p:nvPr/>
        </p:nvSpPr>
        <p:spPr>
          <a:xfrm>
            <a:off x="664028" y="1095989"/>
            <a:ext cx="792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Type node was used to define the role of each field before building the model.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304197-B197-839B-6B37-93B59FCE8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359778"/>
              </p:ext>
            </p:extLst>
          </p:nvPr>
        </p:nvGraphicFramePr>
        <p:xfrm>
          <a:off x="761673" y="2120243"/>
          <a:ext cx="4705614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6985">
                  <a:extLst>
                    <a:ext uri="{9D8B030D-6E8A-4147-A177-3AD203B41FA5}">
                      <a16:colId xmlns:a16="http://schemas.microsoft.com/office/drawing/2014/main" val="4102365968"/>
                    </a:ext>
                  </a:extLst>
                </a:gridCol>
                <a:gridCol w="3178629">
                  <a:extLst>
                    <a:ext uri="{9D8B030D-6E8A-4147-A177-3AD203B41FA5}">
                      <a16:colId xmlns:a16="http://schemas.microsoft.com/office/drawing/2014/main" val="552533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8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534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12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826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Dropped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783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38478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E22F3C5-B0A2-83F0-B8A2-F4E9E06BE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051" y="1657227"/>
            <a:ext cx="5791498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9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E38B1-C81E-A202-0F45-964E9183904A}"/>
              </a:ext>
            </a:extLst>
          </p:cNvPr>
          <p:cNvSpPr txBox="1"/>
          <p:nvPr/>
        </p:nvSpPr>
        <p:spPr>
          <a:xfrm>
            <a:off x="827314" y="555563"/>
            <a:ext cx="3450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CHAID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B1B2C-DCBB-AEF0-7F56-9EDF24CB0741}"/>
              </a:ext>
            </a:extLst>
          </p:cNvPr>
          <p:cNvSpPr txBox="1"/>
          <p:nvPr/>
        </p:nvSpPr>
        <p:spPr>
          <a:xfrm>
            <a:off x="827314" y="163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CHAID (Chi-squared Automatic Interaction Detection) was used to build the customer churn prediction model.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4F172-447B-BA50-F0F1-49058DAE1470}"/>
              </a:ext>
            </a:extLst>
          </p:cNvPr>
          <p:cNvSpPr txBox="1"/>
          <p:nvPr/>
        </p:nvSpPr>
        <p:spPr>
          <a:xfrm>
            <a:off x="707572" y="2840074"/>
            <a:ext cx="242585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Historical Data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Data Selection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Type Node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CHAID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Churn Prediction Model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775B6-61FC-6573-7F5A-03E08A376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85" y="2580981"/>
            <a:ext cx="6945086" cy="398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5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7A33BF-413C-7160-71B2-7E2286AD20F1}"/>
              </a:ext>
            </a:extLst>
          </p:cNvPr>
          <p:cNvSpPr txBox="1"/>
          <p:nvPr/>
        </p:nvSpPr>
        <p:spPr>
          <a:xfrm>
            <a:off x="685800" y="533791"/>
            <a:ext cx="3265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CHAID Decision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D32BD-DB7F-209E-EA09-91E85E16962A}"/>
              </a:ext>
            </a:extLst>
          </p:cNvPr>
          <p:cNvSpPr txBox="1"/>
          <p:nvPr/>
        </p:nvSpPr>
        <p:spPr>
          <a:xfrm>
            <a:off x="685800" y="1625378"/>
            <a:ext cx="723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CHAID model generated a decision tree showing how customer characteristics are related to churn.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03FAF-940C-61BF-7E10-E8CDFBEF98A0}"/>
              </a:ext>
            </a:extLst>
          </p:cNvPr>
          <p:cNvSpPr txBox="1"/>
          <p:nvPr/>
        </p:nvSpPr>
        <p:spPr>
          <a:xfrm>
            <a:off x="685800" y="237030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result from the project:</a:t>
            </a:r>
          </a:p>
          <a:p>
            <a:pPr>
              <a:buNone/>
            </a:pPr>
            <a:r>
              <a:rPr lang="en-IN" dirty="0"/>
              <a:t>The first major split in the example model is based on:</a:t>
            </a:r>
          </a:p>
          <a:p>
            <a:pPr>
              <a:buNone/>
            </a:pPr>
            <a:r>
              <a:rPr lang="en-IN" b="1" dirty="0"/>
              <a:t>Handset</a:t>
            </a:r>
            <a:endParaRPr lang="en-IN" dirty="0"/>
          </a:p>
          <a:p>
            <a:pPr>
              <a:buNone/>
            </a:pPr>
            <a:r>
              <a:rPr lang="en-IN" dirty="0"/>
              <a:t>Further splits include variables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Tariff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Gender </a:t>
            </a:r>
          </a:p>
          <a:p>
            <a:pPr>
              <a:buNone/>
            </a:pPr>
            <a:r>
              <a:rPr lang="en-IN" dirty="0"/>
              <a:t>The project output shows:</a:t>
            </a:r>
          </a:p>
          <a:p>
            <a:pPr>
              <a:buNone/>
            </a:pPr>
            <a:r>
              <a:rPr lang="en-IN" b="1" dirty="0"/>
              <a:t>Total customers:</a:t>
            </a:r>
            <a:r>
              <a:rPr lang="en-IN" dirty="0"/>
              <a:t> 31,769</a:t>
            </a:r>
            <a:br>
              <a:rPr lang="en-IN" dirty="0"/>
            </a:br>
            <a:r>
              <a:rPr lang="en-IN" b="1" dirty="0"/>
              <a:t>Active:</a:t>
            </a:r>
            <a:r>
              <a:rPr lang="en-IN" dirty="0"/>
              <a:t> 17,056 (53.688%)</a:t>
            </a:r>
            <a:br>
              <a:rPr lang="en-IN" dirty="0"/>
            </a:br>
            <a:r>
              <a:rPr lang="en-IN" b="1" dirty="0"/>
              <a:t>Churned:</a:t>
            </a:r>
            <a:r>
              <a:rPr lang="en-IN" dirty="0"/>
              <a:t> 14,713 (46.312%)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526727-3D00-E0E1-02B1-7A53CC347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75"/>
          <a:stretch>
            <a:fillRect/>
          </a:stretch>
        </p:blipFill>
        <p:spPr>
          <a:xfrm>
            <a:off x="6629400" y="591170"/>
            <a:ext cx="5479904" cy="2714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E55BB7-6BF3-546D-DE71-52F65A406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268" y="3801461"/>
            <a:ext cx="8199063" cy="279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5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B6CE6-33DC-F68C-8BEF-B3033D1CC8E7}"/>
              </a:ext>
            </a:extLst>
          </p:cNvPr>
          <p:cNvSpPr txBox="1"/>
          <p:nvPr/>
        </p:nvSpPr>
        <p:spPr>
          <a:xfrm>
            <a:off x="707572" y="479362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Model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2F24D-7ABD-F91E-FF4F-6E3EC864963D}"/>
              </a:ext>
            </a:extLst>
          </p:cNvPr>
          <p:cNvSpPr txBox="1"/>
          <p:nvPr/>
        </p:nvSpPr>
        <p:spPr>
          <a:xfrm>
            <a:off x="707572" y="14076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building the model, IBM SPSS Modeler generated prediction fields for each customer.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B8D34-737B-18C6-6C9A-6E84CA14A691}"/>
              </a:ext>
            </a:extLst>
          </p:cNvPr>
          <p:cNvSpPr txBox="1"/>
          <p:nvPr/>
        </p:nvSpPr>
        <p:spPr>
          <a:xfrm>
            <a:off x="631372" y="22286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+mn-lt"/>
              </a:rPr>
              <a:t>$R-churn  </a:t>
            </a:r>
            <a:r>
              <a:rPr lang="en-IN" dirty="0"/>
              <a:t>Predicted churn category.</a:t>
            </a:r>
          </a:p>
          <a:p>
            <a:pPr>
              <a:buNone/>
            </a:pPr>
            <a:r>
              <a:rPr lang="en-IN" b="1" dirty="0">
                <a:latin typeface="+mn-lt"/>
              </a:rPr>
              <a:t>$RC-churn  </a:t>
            </a:r>
            <a:r>
              <a:rPr lang="en-IN" dirty="0"/>
              <a:t>Confidence associated with the prediction.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8C826-152F-E5DD-1D9F-627350806527}"/>
              </a:ext>
            </a:extLst>
          </p:cNvPr>
          <p:cNvSpPr txBox="1"/>
          <p:nvPr/>
        </p:nvSpPr>
        <p:spPr>
          <a:xfrm>
            <a:off x="707572" y="3203806"/>
            <a:ext cx="541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$R-churn     → Churned</a:t>
            </a:r>
          </a:p>
          <a:p>
            <a:r>
              <a:rPr lang="en-IN" dirty="0"/>
              <a:t>$RC-churn    → 0.948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793A2A-C4AA-7120-90F8-8D959F2B9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527" y="735744"/>
            <a:ext cx="6235473" cy="58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3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25FCAC-139E-2119-8210-D302991AF514}"/>
              </a:ext>
            </a:extLst>
          </p:cNvPr>
          <p:cNvSpPr txBox="1"/>
          <p:nvPr/>
        </p:nvSpPr>
        <p:spPr>
          <a:xfrm>
            <a:off x="500743" y="501134"/>
            <a:ext cx="4278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Scoring Current 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C99D9-5E24-A3FD-D805-68728387AE44}"/>
              </a:ext>
            </a:extLst>
          </p:cNvPr>
          <p:cNvSpPr txBox="1"/>
          <p:nvPr/>
        </p:nvSpPr>
        <p:spPr>
          <a:xfrm>
            <a:off x="500743" y="14838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building the model using historical data, the trained CHAID model was applied to the current customer dataset.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E059A-4368-4441-CA1E-822E6192ADF3}"/>
              </a:ext>
            </a:extLst>
          </p:cNvPr>
          <p:cNvSpPr txBox="1"/>
          <p:nvPr/>
        </p:nvSpPr>
        <p:spPr>
          <a:xfrm>
            <a:off x="500743" y="2405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Dataset:  </a:t>
            </a:r>
            <a:r>
              <a:rPr lang="en-IN" dirty="0">
                <a:latin typeface="+mn-lt"/>
              </a:rPr>
              <a:t>telco x deployment data.xlsx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BB7491-AD71-5EE1-A4E5-883C547D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" r="3925" b="13701"/>
          <a:stretch>
            <a:fillRect/>
          </a:stretch>
        </p:blipFill>
        <p:spPr>
          <a:xfrm>
            <a:off x="3581400" y="2839135"/>
            <a:ext cx="7897139" cy="3777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7BB49B-E166-11F5-6A1D-0429FD482733}"/>
              </a:ext>
            </a:extLst>
          </p:cNvPr>
          <p:cNvSpPr txBox="1"/>
          <p:nvPr/>
        </p:nvSpPr>
        <p:spPr>
          <a:xfrm>
            <a:off x="500743" y="3045806"/>
            <a:ext cx="24492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Current Customers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Validation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Trained CHAID Model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Churn Prediction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Risk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52123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AFFB9-A373-36DB-6A33-AC27F22BAC72}"/>
              </a:ext>
            </a:extLst>
          </p:cNvPr>
          <p:cNvSpPr txBox="1"/>
          <p:nvPr/>
        </p:nvSpPr>
        <p:spPr>
          <a:xfrm>
            <a:off x="566057" y="446705"/>
            <a:ext cx="4604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Identifying Customers at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885DC-FCB2-8330-A552-865582B87FFC}"/>
              </a:ext>
            </a:extLst>
          </p:cNvPr>
          <p:cNvSpPr txBox="1"/>
          <p:nvPr/>
        </p:nvSpPr>
        <p:spPr>
          <a:xfrm>
            <a:off x="566057" y="1236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Customers were selected as high-risk customers when the model predicted them as "Churned" and the confidence value was greater than 0.9.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084D7-776D-EE31-3A6C-878CCCBB9AE5}"/>
              </a:ext>
            </a:extLst>
          </p:cNvPr>
          <p:cNvSpPr txBox="1"/>
          <p:nvPr/>
        </p:nvSpPr>
        <p:spPr>
          <a:xfrm>
            <a:off x="566057" y="2618992"/>
            <a:ext cx="2873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$R-churn = "Churned"</a:t>
            </a:r>
          </a:p>
          <a:p>
            <a:r>
              <a:rPr lang="en-IN" dirty="0"/>
              <a:t>AND</a:t>
            </a:r>
          </a:p>
          <a:p>
            <a:r>
              <a:rPr lang="en-IN" dirty="0"/>
              <a:t>$RC-churn &gt; 0.9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6F4F3E-7CC1-720C-0D9C-13CD0EAD6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385" y="2159836"/>
            <a:ext cx="5195799" cy="448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4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00DC1-5B74-5B39-CCCE-209342BE371E}"/>
              </a:ext>
            </a:extLst>
          </p:cNvPr>
          <p:cNvSpPr txBox="1"/>
          <p:nvPr/>
        </p:nvSpPr>
        <p:spPr>
          <a:xfrm>
            <a:off x="838200" y="381392"/>
            <a:ext cx="2808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/>
              <a:t>Final Output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CA546-A5F1-8758-E8AD-A304A30C7303}"/>
              </a:ext>
            </a:extLst>
          </p:cNvPr>
          <p:cNvSpPr txBox="1"/>
          <p:nvPr/>
        </p:nvSpPr>
        <p:spPr>
          <a:xfrm>
            <a:off x="838200" y="13344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After identifying high-risk customers, unnecessary fields were removed and the prediction fields were renamed for easier interpretation.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D72AF-C3C1-33DE-5B9C-45A175F370AB}"/>
              </a:ext>
            </a:extLst>
          </p:cNvPr>
          <p:cNvSpPr txBox="1"/>
          <p:nvPr/>
        </p:nvSpPr>
        <p:spPr>
          <a:xfrm>
            <a:off x="838200" y="2505670"/>
            <a:ext cx="2351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customer_id</a:t>
            </a:r>
            <a:endParaRPr lang="en-IN" dirty="0"/>
          </a:p>
          <a:p>
            <a:r>
              <a:rPr lang="en-IN" dirty="0"/>
              <a:t>predicted value</a:t>
            </a:r>
          </a:p>
          <a:p>
            <a:r>
              <a:rPr lang="en-IN" dirty="0"/>
              <a:t>probability to churn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0F6CF-6C19-C8BC-03FD-FB4246D86016}"/>
              </a:ext>
            </a:extLst>
          </p:cNvPr>
          <p:cNvSpPr txBox="1"/>
          <p:nvPr/>
        </p:nvSpPr>
        <p:spPr>
          <a:xfrm>
            <a:off x="838200" y="3676862"/>
            <a:ext cx="25254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Customers at Risk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    Filter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   Flat File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customers at risk.dat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11188A-8F8E-AD02-D427-134A8BE0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75" y="904612"/>
            <a:ext cx="3054507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8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F95EB-8658-5B13-1CDE-EE77595ADD65}"/>
              </a:ext>
            </a:extLst>
          </p:cNvPr>
          <p:cNvSpPr txBox="1"/>
          <p:nvPr/>
        </p:nvSpPr>
        <p:spPr>
          <a:xfrm>
            <a:off x="511629" y="3813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Complete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6284B-BF9C-BEEF-E865-8D3DBDCA52C5}"/>
              </a:ext>
            </a:extLst>
          </p:cNvPr>
          <p:cNvSpPr txBox="1"/>
          <p:nvPr/>
        </p:nvSpPr>
        <p:spPr>
          <a:xfrm>
            <a:off x="968829" y="904611"/>
            <a:ext cx="2220684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 HISTORICAL DATA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 Excel Import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Data Selection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  Type Node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CHAID Model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Churn Prediction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CURRENT CUSTOMERS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Excel Import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Apply CHAID Model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Identify High-Risk</a:t>
            </a:r>
          </a:p>
          <a:p>
            <a:r>
              <a:rPr lang="en-IN" sz="1500" dirty="0"/>
              <a:t>             Customers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 Filter Data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customers at risk.dat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4B154-C96D-7AFF-B983-981901724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280" y="1602834"/>
            <a:ext cx="7734698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3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580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srivastava</dc:creator>
  <cp:lastModifiedBy>satyam srivastava</cp:lastModifiedBy>
  <cp:revision>2</cp:revision>
  <dcterms:created xsi:type="dcterms:W3CDTF">2026-10-08T17:06:36Z</dcterms:created>
  <dcterms:modified xsi:type="dcterms:W3CDTF">2026-10-08T18:56:55Z</dcterms:modified>
</cp:coreProperties>
</file>